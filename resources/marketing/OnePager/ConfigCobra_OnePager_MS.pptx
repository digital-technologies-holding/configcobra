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4"/>
  </p:sldMasterIdLst>
  <p:notesMasterIdLst>
    <p:notesMasterId r:id="rId7"/>
  </p:notesMasterIdLst>
  <p:sldIdLst>
    <p:sldId id="439" r:id="rId5"/>
    <p:sldId id="556" r:id="rId6"/>
  </p:sldIdLst>
  <p:sldSz cx="10058400" cy="130143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" id="{D5639495-FE7E-E64D-97DB-A49859B699B2}">
          <p14:sldIdLst>
            <p14:sldId id="439"/>
            <p14:sldId id="5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95" userDrawn="1">
          <p15:clr>
            <a:srgbClr val="A4A3A4"/>
          </p15:clr>
        </p15:guide>
        <p15:guide id="3" orient="horz" pos="7885" userDrawn="1">
          <p15:clr>
            <a:srgbClr val="A4A3A4"/>
          </p15:clr>
        </p15:guide>
        <p15:guide id="4" pos="6045" userDrawn="1">
          <p15:clr>
            <a:srgbClr val="A4A3A4"/>
          </p15:clr>
        </p15:guide>
        <p15:guide id="5" pos="310" userDrawn="1">
          <p15:clr>
            <a:srgbClr val="A4A3A4"/>
          </p15:clr>
        </p15:guide>
        <p15:guide id="6" orient="horz" pos="285" userDrawn="1">
          <p15:clr>
            <a:srgbClr val="A4A3A4"/>
          </p15:clr>
        </p15:guide>
        <p15:guide id="7" pos="1994" userDrawn="1">
          <p15:clr>
            <a:srgbClr val="A4A3A4"/>
          </p15:clr>
        </p15:guide>
        <p15:guide id="8" pos="5985" userDrawn="1">
          <p15:clr>
            <a:srgbClr val="A4A3A4"/>
          </p15:clr>
        </p15:guide>
        <p15:guide id="9" orient="horz" pos="5244" userDrawn="1">
          <p15:clr>
            <a:srgbClr val="A4A3A4"/>
          </p15:clr>
        </p15:guide>
        <p15:guide id="10" pos="3668" userDrawn="1">
          <p15:clr>
            <a:srgbClr val="A4A3A4"/>
          </p15:clr>
        </p15:guide>
        <p15:guide id="11" pos="469" userDrawn="1">
          <p15:clr>
            <a:srgbClr val="A4A3A4"/>
          </p15:clr>
        </p15:guide>
        <p15:guide id="12" pos="5869" userDrawn="1">
          <p15:clr>
            <a:srgbClr val="A4A3A4"/>
          </p15:clr>
        </p15:guide>
        <p15:guide id="13" pos="4166" userDrawn="1">
          <p15:clr>
            <a:srgbClr val="A4A3A4"/>
          </p15:clr>
        </p15:guide>
        <p15:guide id="14" orient="horz" pos="7356" userDrawn="1">
          <p15:clr>
            <a:srgbClr val="A4A3A4"/>
          </p15:clr>
        </p15:guide>
        <p15:guide id="15" orient="horz" pos="1047" userDrawn="1">
          <p15:clr>
            <a:srgbClr val="A4A3A4"/>
          </p15:clr>
        </p15:guide>
        <p15:guide id="16" orient="horz" pos="1868" userDrawn="1">
          <p15:clr>
            <a:srgbClr val="A4A3A4"/>
          </p15:clr>
        </p15:guide>
        <p15:guide id="17" orient="horz" pos="2466" userDrawn="1">
          <p15:clr>
            <a:srgbClr val="A4A3A4"/>
          </p15:clr>
        </p15:guide>
        <p15:guide id="18" orient="horz" pos="3571" userDrawn="1">
          <p15:clr>
            <a:srgbClr val="A4A3A4"/>
          </p15:clr>
        </p15:guide>
        <p15:guide id="19" orient="horz" pos="6326" userDrawn="1">
          <p15:clr>
            <a:srgbClr val="A4A3A4"/>
          </p15:clr>
        </p15:guide>
        <p15:guide id="20" pos="1818" userDrawn="1">
          <p15:clr>
            <a:srgbClr val="A4A3A4"/>
          </p15:clr>
        </p15:guide>
        <p15:guide id="21" pos="3844" userDrawn="1">
          <p15:clr>
            <a:srgbClr val="A4A3A4"/>
          </p15:clr>
        </p15:guide>
        <p15:guide id="22" pos="2170" userDrawn="1">
          <p15:clr>
            <a:srgbClr val="A4A3A4"/>
          </p15:clr>
        </p15:guide>
        <p15:guide id="23" orient="horz" pos="6182" userDrawn="1">
          <p15:clr>
            <a:srgbClr val="A4A3A4"/>
          </p15:clr>
        </p15:guide>
        <p15:guide id="24" pos="4224" userDrawn="1">
          <p15:clr>
            <a:srgbClr val="547EBF"/>
          </p15:clr>
        </p15:guide>
        <p15:guide id="25" orient="horz" pos="7151" userDrawn="1">
          <p15:clr>
            <a:srgbClr val="A4A3A4"/>
          </p15:clr>
        </p15:guide>
        <p15:guide id="26" orient="horz" pos="5536" userDrawn="1">
          <p15:clr>
            <a:srgbClr val="A4A3A4"/>
          </p15:clr>
        </p15:guide>
        <p15:guide id="27" orient="horz" pos="4333" userDrawn="1">
          <p15:clr>
            <a:srgbClr val="A4A3A4"/>
          </p15:clr>
        </p15:guide>
        <p15:guide id="28" orient="horz" pos="4217" userDrawn="1">
          <p15:clr>
            <a:srgbClr val="A4A3A4"/>
          </p15:clr>
        </p15:guide>
        <p15:guide id="29" orient="horz" pos="3424" userDrawn="1">
          <p15:clr>
            <a:srgbClr val="A4A3A4"/>
          </p15:clr>
        </p15:guide>
        <p15:guide id="30" orient="horz" pos="2837" userDrawn="1">
          <p15:clr>
            <a:srgbClr val="A4A3A4"/>
          </p15:clr>
        </p15:guide>
        <p15:guide id="31" orient="horz" pos="3865" userDrawn="1">
          <p15:clr>
            <a:srgbClr val="A4A3A4"/>
          </p15:clr>
        </p15:guide>
        <p15:guide id="32" orient="horz" pos="1771" userDrawn="1">
          <p15:clr>
            <a:srgbClr val="A4A3A4"/>
          </p15:clr>
        </p15:guide>
        <p15:guide id="33" pos="351" userDrawn="1">
          <p15:clr>
            <a:srgbClr val="A4A3A4"/>
          </p15:clr>
        </p15:guide>
        <p15:guide id="34" pos="3145" userDrawn="1">
          <p15:clr>
            <a:srgbClr val="A4A3A4"/>
          </p15:clr>
        </p15:guide>
        <p15:guide id="35" pos="2816" userDrawn="1">
          <p15:clr>
            <a:srgbClr val="A4A3A4"/>
          </p15:clr>
        </p15:guide>
        <p15:guide id="36" pos="2112" userDrawn="1">
          <p15:clr>
            <a:srgbClr val="547EBF"/>
          </p15:clr>
        </p15:guide>
        <p15:guide id="37" pos="4489" userDrawn="1">
          <p15:clr>
            <a:srgbClr val="A4A3A4"/>
          </p15:clr>
        </p15:guide>
        <p15:guide id="38" orient="horz" pos="72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14E4A9-A672-B3F6-E7E9-65D698D46D7A}" name="Amy Liao" initials="AL" userId="S::minliao@microsoft.com::497a3b27-1ef1-450d-9dc5-a5f39a9d456b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ven Tokuno" initials="DT" lastIdx="2" clrIdx="0"/>
  <p:cmAuthor id="2" name="Vargas, Mauricio Antonio" initials="VMA" lastIdx="9" clrIdx="1">
    <p:extLst>
      <p:ext uri="{19B8F6BF-5375-455C-9EA6-DF929625EA0E}">
        <p15:presenceInfo xmlns:p15="http://schemas.microsoft.com/office/powerpoint/2012/main" userId="S::mauricio.a.vargas@accenture.com::b28fd379-f88a-4f4b-8b62-27e7a173086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B7C7"/>
    <a:srgbClr val="303D48"/>
    <a:srgbClr val="44546A"/>
    <a:srgbClr val="00B0F0"/>
    <a:srgbClr val="2F3D48"/>
    <a:srgbClr val="E6E6E6"/>
    <a:srgbClr val="14171B"/>
    <a:srgbClr val="262D33"/>
    <a:srgbClr val="1F2429"/>
    <a:srgbClr val="022A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85" autoAdjust="0"/>
    <p:restoredTop sz="95705" autoAdjust="0"/>
  </p:normalViewPr>
  <p:slideViewPr>
    <p:cSldViewPr snapToGrid="0">
      <p:cViewPr>
        <p:scale>
          <a:sx n="66" d="100"/>
          <a:sy n="66" d="100"/>
        </p:scale>
        <p:origin x="2778" y="66"/>
      </p:cViewPr>
      <p:guideLst>
        <p:guide orient="horz" pos="695"/>
        <p:guide orient="horz" pos="7885"/>
        <p:guide pos="6045"/>
        <p:guide pos="310"/>
        <p:guide orient="horz" pos="285"/>
        <p:guide pos="1994"/>
        <p:guide pos="5985"/>
        <p:guide orient="horz" pos="5244"/>
        <p:guide pos="3668"/>
        <p:guide pos="469"/>
        <p:guide pos="5869"/>
        <p:guide pos="4166"/>
        <p:guide orient="horz" pos="7356"/>
        <p:guide orient="horz" pos="1047"/>
        <p:guide orient="horz" pos="1868"/>
        <p:guide orient="horz" pos="2466"/>
        <p:guide orient="horz" pos="3571"/>
        <p:guide orient="horz" pos="6326"/>
        <p:guide pos="1818"/>
        <p:guide pos="3844"/>
        <p:guide pos="2170"/>
        <p:guide orient="horz" pos="6182"/>
        <p:guide pos="4224"/>
        <p:guide orient="horz" pos="7151"/>
        <p:guide orient="horz" pos="5536"/>
        <p:guide orient="horz" pos="4333"/>
        <p:guide orient="horz" pos="4217"/>
        <p:guide orient="horz" pos="3424"/>
        <p:guide orient="horz" pos="2837"/>
        <p:guide orient="horz" pos="3865"/>
        <p:guide orient="horz" pos="1771"/>
        <p:guide pos="351"/>
        <p:guide pos="3145"/>
        <p:guide pos="2816"/>
        <p:guide pos="2112"/>
        <p:guide pos="4489"/>
        <p:guide orient="horz" pos="72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D8B09A-A38A-3B4E-ADB1-0D81F0DFED70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BE59A-3FDD-4442-80EB-B8F1A8DE9F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6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83142" rtl="0" eaLnBrk="1" latinLnBrk="0" hangingPunct="1">
      <a:defRPr sz="1553" kern="1200">
        <a:solidFill>
          <a:schemeClr val="tx1"/>
        </a:solidFill>
        <a:latin typeface="+mn-lt"/>
        <a:ea typeface="+mn-ea"/>
        <a:cs typeface="+mn-cs"/>
      </a:defRPr>
    </a:lvl1pPr>
    <a:lvl2pPr marL="591571" algn="l" defTabSz="1183142" rtl="0" eaLnBrk="1" latinLnBrk="0" hangingPunct="1">
      <a:defRPr sz="1553" kern="1200">
        <a:solidFill>
          <a:schemeClr val="tx1"/>
        </a:solidFill>
        <a:latin typeface="+mn-lt"/>
        <a:ea typeface="+mn-ea"/>
        <a:cs typeface="+mn-cs"/>
      </a:defRPr>
    </a:lvl2pPr>
    <a:lvl3pPr marL="1183142" algn="l" defTabSz="1183142" rtl="0" eaLnBrk="1" latinLnBrk="0" hangingPunct="1">
      <a:defRPr sz="1553" kern="1200">
        <a:solidFill>
          <a:schemeClr val="tx1"/>
        </a:solidFill>
        <a:latin typeface="+mn-lt"/>
        <a:ea typeface="+mn-ea"/>
        <a:cs typeface="+mn-cs"/>
      </a:defRPr>
    </a:lvl3pPr>
    <a:lvl4pPr marL="1774713" algn="l" defTabSz="1183142" rtl="0" eaLnBrk="1" latinLnBrk="0" hangingPunct="1">
      <a:defRPr sz="1553" kern="1200">
        <a:solidFill>
          <a:schemeClr val="tx1"/>
        </a:solidFill>
        <a:latin typeface="+mn-lt"/>
        <a:ea typeface="+mn-ea"/>
        <a:cs typeface="+mn-cs"/>
      </a:defRPr>
    </a:lvl4pPr>
    <a:lvl5pPr marL="2366284" algn="l" defTabSz="1183142" rtl="0" eaLnBrk="1" latinLnBrk="0" hangingPunct="1">
      <a:defRPr sz="1553" kern="1200">
        <a:solidFill>
          <a:schemeClr val="tx1"/>
        </a:solidFill>
        <a:latin typeface="+mn-lt"/>
        <a:ea typeface="+mn-ea"/>
        <a:cs typeface="+mn-cs"/>
      </a:defRPr>
    </a:lvl5pPr>
    <a:lvl6pPr marL="2957855" algn="l" defTabSz="1183142" rtl="0" eaLnBrk="1" latinLnBrk="0" hangingPunct="1">
      <a:defRPr sz="1553" kern="1200">
        <a:solidFill>
          <a:schemeClr val="tx1"/>
        </a:solidFill>
        <a:latin typeface="+mn-lt"/>
        <a:ea typeface="+mn-ea"/>
        <a:cs typeface="+mn-cs"/>
      </a:defRPr>
    </a:lvl6pPr>
    <a:lvl7pPr marL="3549426" algn="l" defTabSz="1183142" rtl="0" eaLnBrk="1" latinLnBrk="0" hangingPunct="1">
      <a:defRPr sz="1553" kern="1200">
        <a:solidFill>
          <a:schemeClr val="tx1"/>
        </a:solidFill>
        <a:latin typeface="+mn-lt"/>
        <a:ea typeface="+mn-ea"/>
        <a:cs typeface="+mn-cs"/>
      </a:defRPr>
    </a:lvl7pPr>
    <a:lvl8pPr marL="4140998" algn="l" defTabSz="1183142" rtl="0" eaLnBrk="1" latinLnBrk="0" hangingPunct="1">
      <a:defRPr sz="1553" kern="1200">
        <a:solidFill>
          <a:schemeClr val="tx1"/>
        </a:solidFill>
        <a:latin typeface="+mn-lt"/>
        <a:ea typeface="+mn-ea"/>
        <a:cs typeface="+mn-cs"/>
      </a:defRPr>
    </a:lvl8pPr>
    <a:lvl9pPr marL="4732569" algn="l" defTabSz="1183142" rtl="0" eaLnBrk="1" latinLnBrk="0" hangingPunct="1">
      <a:defRPr sz="155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BE59A-3FDD-4442-80EB-B8F1A8DE9F3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51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BE59A-3FDD-4442-80EB-B8F1A8DE9F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941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TION - 2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398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692895"/>
            <a:ext cx="8675370" cy="25155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3464461"/>
            <a:ext cx="8675370" cy="82574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12062354"/>
            <a:ext cx="2263140" cy="692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12062354"/>
            <a:ext cx="3394710" cy="692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Partner Name   |   www.contoso.com   |   email@contoso.com   |   123-456-7890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12062354"/>
            <a:ext cx="2263140" cy="692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84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hf sldNum="0" hdr="0" dt="0"/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1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hyperlink" Target="https://marketplace.microsoft.com/en-us/product/nologiesholdingkorltoltfelelssgtrsasg1726131505636.config_cobra_01?tab=Overview" TargetMode="Externa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19" Type="http://schemas.openxmlformats.org/officeDocument/2006/relationships/image" Target="../media/image16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hyperlink" Target="mailto:info@configcobra.com" TargetMode="External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12" Type="http://schemas.openxmlformats.org/officeDocument/2006/relationships/hyperlink" Target="configcobra.com" TargetMode="Externa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png"/><Relationship Id="rId15" Type="http://schemas.openxmlformats.org/officeDocument/2006/relationships/image" Target="../media/image15.png"/><Relationship Id="rId10" Type="http://schemas.openxmlformats.org/officeDocument/2006/relationships/image" Target="../media/image24.svg"/><Relationship Id="rId4" Type="http://schemas.openxmlformats.org/officeDocument/2006/relationships/image" Target="../media/image18.jpeg"/><Relationship Id="rId9" Type="http://schemas.openxmlformats.org/officeDocument/2006/relationships/image" Target="../media/image23.png"/><Relationship Id="rId14" Type="http://schemas.openxmlformats.org/officeDocument/2006/relationships/hyperlink" Target="https://marketplace.microsoft.com/en-us/product/nologiesholdingkorltoltfelelssgtrsasg1726131505636.config_cobra_01?tab=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A55720-172D-4C15-9D40-5FE0BE23053F}"/>
              </a:ext>
            </a:extLst>
          </p:cNvPr>
          <p:cNvSpPr/>
          <p:nvPr/>
        </p:nvSpPr>
        <p:spPr>
          <a:xfrm>
            <a:off x="5531097" y="0"/>
            <a:ext cx="4527303" cy="462930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CF858-AEBF-6F4B-8202-5E54EC164DAA}"/>
              </a:ext>
            </a:extLst>
          </p:cNvPr>
          <p:cNvSpPr txBox="1"/>
          <p:nvPr/>
        </p:nvSpPr>
        <p:spPr>
          <a:xfrm>
            <a:off x="-2083321" y="9207763"/>
            <a:ext cx="0" cy="0"/>
          </a:xfrm>
          <a:prstGeom prst="rect">
            <a:avLst/>
          </a:prstGeom>
        </p:spPr>
        <p:txBody>
          <a:bodyPr vert="horz" wrap="none" lIns="118312" tIns="59156" rIns="118312" bIns="59156" rtlCol="0">
            <a:normAutofit fontScale="25000" lnSpcReduction="20000"/>
          </a:bodyPr>
          <a:lstStyle/>
          <a:p>
            <a:pPr algn="l">
              <a:lnSpc>
                <a:spcPct val="120000"/>
              </a:lnSpc>
            </a:pPr>
            <a:endParaRPr lang="en-CR" sz="3105">
              <a:solidFill>
                <a:schemeClr val="tx1">
                  <a:lumMod val="75000"/>
                  <a:lumOff val="25000"/>
                </a:schemeClr>
              </a:solidFill>
              <a:latin typeface="Montserrat ExtraLight" pitchFamily="2" charset="77"/>
              <a:cs typeface="Segoe UI Semilight" panose="020B04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5E59F6-E1C7-174F-B72B-667C88AC3F5E}"/>
              </a:ext>
            </a:extLst>
          </p:cNvPr>
          <p:cNvSpPr txBox="1"/>
          <p:nvPr/>
        </p:nvSpPr>
        <p:spPr>
          <a:xfrm>
            <a:off x="11520868" y="4255947"/>
            <a:ext cx="0" cy="0"/>
          </a:xfrm>
          <a:prstGeom prst="rect">
            <a:avLst/>
          </a:prstGeom>
        </p:spPr>
        <p:txBody>
          <a:bodyPr vert="horz" wrap="none" lIns="118312" tIns="59156" rIns="118312" bIns="59156" rtlCol="0">
            <a:normAutofit fontScale="25000" lnSpcReduction="20000"/>
          </a:bodyPr>
          <a:lstStyle/>
          <a:p>
            <a:pPr algn="l">
              <a:lnSpc>
                <a:spcPct val="120000"/>
              </a:lnSpc>
            </a:pPr>
            <a:endParaRPr lang="en-CR" sz="3105">
              <a:solidFill>
                <a:schemeClr val="tx1">
                  <a:lumMod val="75000"/>
                  <a:lumOff val="25000"/>
                </a:schemeClr>
              </a:solidFill>
              <a:latin typeface="Montserrat ExtraLight" pitchFamily="2" charset="77"/>
              <a:cs typeface="Segoe UI Semilight" panose="020B0402040204020203" pitchFamily="34" charset="0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0D45BB0-7069-4854-BB7E-FC5C1F1BA0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09925" y="3371317"/>
            <a:ext cx="1244660" cy="1262191"/>
          </a:xfrm>
          <a:prstGeom prst="rect">
            <a:avLst/>
          </a:prstGeom>
        </p:spPr>
      </p:pic>
      <p:pic>
        <p:nvPicPr>
          <p:cNvPr id="13" name="white overlay">
            <a:extLst>
              <a:ext uri="{FF2B5EF4-FFF2-40B4-BE49-F238E27FC236}">
                <a16:creationId xmlns:a16="http://schemas.microsoft.com/office/drawing/2014/main" id="{7476DFA0-F323-4642-8068-88736BF2DC6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715" r="32086"/>
          <a:stretch/>
        </p:blipFill>
        <p:spPr>
          <a:xfrm rot="10800000">
            <a:off x="5531097" y="1586481"/>
            <a:ext cx="2967214" cy="2661399"/>
          </a:xfrm>
          <a:prstGeom prst="rect">
            <a:avLst/>
          </a:prstGeom>
        </p:spPr>
      </p:pic>
      <p:pic>
        <p:nvPicPr>
          <p:cNvPr id="14" name="mask 2">
            <a:extLst>
              <a:ext uri="{FF2B5EF4-FFF2-40B4-BE49-F238E27FC236}">
                <a16:creationId xmlns:a16="http://schemas.microsoft.com/office/drawing/2014/main" id="{627822E7-08B3-4FCE-9A4C-106AE177B8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110" y="0"/>
            <a:ext cx="10056524" cy="13037757"/>
          </a:xfrm>
          <a:prstGeom prst="rect">
            <a:avLst/>
          </a:prstGeom>
        </p:spPr>
      </p:pic>
      <p:sp>
        <p:nvSpPr>
          <p:cNvPr id="55" name="Snip Diagonal Corner Rectangle 1">
            <a:extLst>
              <a:ext uri="{FF2B5EF4-FFF2-40B4-BE49-F238E27FC236}">
                <a16:creationId xmlns:a16="http://schemas.microsoft.com/office/drawing/2014/main" id="{810878C7-B5DA-4DE4-8EA1-F1282449D37C}"/>
              </a:ext>
            </a:extLst>
          </p:cNvPr>
          <p:cNvSpPr/>
          <p:nvPr/>
        </p:nvSpPr>
        <p:spPr>
          <a:xfrm>
            <a:off x="6545626" y="7111877"/>
            <a:ext cx="3012091" cy="4291195"/>
          </a:xfrm>
          <a:prstGeom prst="snip2DiagRect">
            <a:avLst/>
          </a:prstGeom>
          <a:noFill/>
          <a:ln w="22225">
            <a:solidFill>
              <a:srgbClr val="0DB7C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R" sz="3359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65DEC82-D32A-40FB-8FF3-0356345D229A}"/>
              </a:ext>
            </a:extLst>
          </p:cNvPr>
          <p:cNvCxnSpPr>
            <a:cxnSpLocks/>
          </p:cNvCxnSpPr>
          <p:nvPr/>
        </p:nvCxnSpPr>
        <p:spPr>
          <a:xfrm flipV="1">
            <a:off x="9557716" y="9527958"/>
            <a:ext cx="0" cy="1875114"/>
          </a:xfrm>
          <a:prstGeom prst="line">
            <a:avLst/>
          </a:prstGeom>
          <a:ln w="2222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353FD8-9A40-4397-89F4-C7DBCECD43B5}"/>
              </a:ext>
            </a:extLst>
          </p:cNvPr>
          <p:cNvCxnSpPr>
            <a:cxnSpLocks/>
          </p:cNvCxnSpPr>
          <p:nvPr/>
        </p:nvCxnSpPr>
        <p:spPr>
          <a:xfrm>
            <a:off x="9063731" y="-23432"/>
            <a:ext cx="993731" cy="993885"/>
          </a:xfrm>
          <a:prstGeom prst="line">
            <a:avLst/>
          </a:prstGeom>
          <a:ln w="28575">
            <a:solidFill>
              <a:srgbClr val="0DB7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022816B-3546-412A-9CD5-E3100DFC0075}"/>
              </a:ext>
            </a:extLst>
          </p:cNvPr>
          <p:cNvCxnSpPr>
            <a:cxnSpLocks/>
          </p:cNvCxnSpPr>
          <p:nvPr/>
        </p:nvCxnSpPr>
        <p:spPr>
          <a:xfrm flipH="1">
            <a:off x="8233818" y="2691711"/>
            <a:ext cx="1823645" cy="1914166"/>
          </a:xfrm>
          <a:prstGeom prst="line">
            <a:avLst/>
          </a:prstGeom>
          <a:ln w="28575">
            <a:solidFill>
              <a:srgbClr val="0DB7C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Graphic 62">
            <a:extLst>
              <a:ext uri="{FF2B5EF4-FFF2-40B4-BE49-F238E27FC236}">
                <a16:creationId xmlns:a16="http://schemas.microsoft.com/office/drawing/2014/main" id="{4E132DA7-A272-4C83-802A-881BC8EFD7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80593" y="2062044"/>
            <a:ext cx="759852" cy="1524944"/>
          </a:xfrm>
          <a:prstGeom prst="rect">
            <a:avLst/>
          </a:prstGeom>
        </p:spPr>
      </p:pic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DFE0A22-A13C-4CFA-9671-DE9899D17E5D}"/>
              </a:ext>
            </a:extLst>
          </p:cNvPr>
          <p:cNvCxnSpPr>
            <a:cxnSpLocks/>
          </p:cNvCxnSpPr>
          <p:nvPr/>
        </p:nvCxnSpPr>
        <p:spPr>
          <a:xfrm>
            <a:off x="8594199" y="-3248"/>
            <a:ext cx="1463264" cy="1418671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Graphic 66">
            <a:extLst>
              <a:ext uri="{FF2B5EF4-FFF2-40B4-BE49-F238E27FC236}">
                <a16:creationId xmlns:a16="http://schemas.microsoft.com/office/drawing/2014/main" id="{7E9AD51A-F4BC-4085-9509-4D11F33EBE8A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9487819" y="3391366"/>
            <a:ext cx="406769" cy="816344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629E7EE9-FF3E-4AB4-A73A-4D325A0B669C}"/>
              </a:ext>
            </a:extLst>
          </p:cNvPr>
          <p:cNvPicPr>
            <a:picLocks noChangeAspect="1"/>
          </p:cNvPicPr>
          <p:nvPr/>
        </p:nvPicPr>
        <p:blipFill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365460" y="3870170"/>
            <a:ext cx="692003" cy="1388778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77F14AE1-84FC-4813-9D35-C40E944DC9BA}"/>
              </a:ext>
            </a:extLst>
          </p:cNvPr>
          <p:cNvPicPr>
            <a:picLocks noChangeAspect="1"/>
          </p:cNvPicPr>
          <p:nvPr/>
        </p:nvPicPr>
        <p:blipFill>
          <a:blip r:embed="rId14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16200000">
            <a:off x="5962272" y="-348388"/>
            <a:ext cx="692003" cy="1388778"/>
          </a:xfrm>
          <a:prstGeom prst="rect">
            <a:avLst/>
          </a:prstGeom>
        </p:spPr>
      </p:pic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D8235E8C-4D9D-6E45-9434-50915A3DCA3C}"/>
              </a:ext>
            </a:extLst>
          </p:cNvPr>
          <p:cNvSpPr txBox="1">
            <a:spLocks/>
          </p:cNvSpPr>
          <p:nvPr/>
        </p:nvSpPr>
        <p:spPr>
          <a:xfrm>
            <a:off x="463095" y="5013806"/>
            <a:ext cx="9142297" cy="395558"/>
          </a:xfrm>
          <a:prstGeom prst="rect">
            <a:avLst/>
          </a:prstGeom>
        </p:spPr>
        <p:txBody>
          <a:bodyPr lIns="91440" tIns="45720" rIns="91440" bIns="45720" anchor="t" anchorCtr="0">
            <a:spAutoFit/>
          </a:bodyPr>
          <a:lstStyle>
            <a:lvl1pPr marL="194310" indent="-194310" algn="l" defTabSz="777240" rtl="0" eaLnBrk="1" latinLnBrk="0" hangingPunct="1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0" b="0" i="0" kern="1200">
                <a:solidFill>
                  <a:schemeClr val="tx2"/>
                </a:solidFill>
                <a:latin typeface="Arial" pitchFamily="2" charset="77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10" dirty="0">
                <a:solidFill>
                  <a:schemeClr val="accent2"/>
                </a:solidFill>
                <a:latin typeface="Segoe UI Semibold"/>
                <a:cs typeface="Segoe UI Semibold"/>
              </a:rPr>
              <a:t>About </a:t>
            </a:r>
            <a:r>
              <a:rPr lang="en-US" sz="1810" dirty="0" err="1">
                <a:solidFill>
                  <a:schemeClr val="accent2"/>
                </a:solidFill>
                <a:latin typeface="Segoe UI Semibold"/>
                <a:cs typeface="Segoe UI Semibold"/>
              </a:rPr>
              <a:t>ConfigCobra</a:t>
            </a:r>
            <a:r>
              <a:rPr lang="en-US" sz="1810" dirty="0">
                <a:solidFill>
                  <a:schemeClr val="accent2"/>
                </a:solidFill>
                <a:latin typeface="Segoe UI Semibold"/>
                <a:cs typeface="Segoe UI Semibold"/>
              </a:rPr>
              <a:t>: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F8068E42-C648-4F4D-8BA2-151A62224DB8}"/>
              </a:ext>
            </a:extLst>
          </p:cNvPr>
          <p:cNvSpPr txBox="1">
            <a:spLocks/>
          </p:cNvSpPr>
          <p:nvPr/>
        </p:nvSpPr>
        <p:spPr>
          <a:xfrm>
            <a:off x="463096" y="5642013"/>
            <a:ext cx="9477348" cy="1117037"/>
          </a:xfrm>
          <a:prstGeom prst="rect">
            <a:avLst/>
          </a:prstGeom>
        </p:spPr>
        <p:txBody>
          <a:bodyPr wrap="square" lIns="91440" tIns="45720" rIns="91440" bIns="45720" anchor="t" anchorCtr="0">
            <a:spAutoFit/>
          </a:bodyPr>
          <a:lstStyle>
            <a:lvl1pPr marL="194310" indent="-194310" algn="l" defTabSz="777240" rtl="0" eaLnBrk="1" latinLnBrk="0" hangingPunct="1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0" b="0" i="0" kern="1200">
                <a:solidFill>
                  <a:schemeClr val="tx2"/>
                </a:solidFill>
                <a:latin typeface="Arial" pitchFamily="2" charset="77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 err="1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ConfigCobra</a:t>
            </a:r>
            <a:r>
              <a:rPr lang="en-US" sz="1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is a SaaS company delivering CIS-certified compliance assessments for Microsoft 365. Our approach replaces manual audits with automated checks, drift monitoring, and audit-ready evidence. We stand out with </a:t>
            </a:r>
            <a:br>
              <a:rPr lang="en-US" sz="1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CIS-certified reporting and a self-service experience. We serve enterprises, healthcare, finance, and government contractors.</a:t>
            </a:r>
          </a:p>
        </p:txBody>
      </p:sp>
      <p:sp>
        <p:nvSpPr>
          <p:cNvPr id="41" name="Title 2">
            <a:extLst>
              <a:ext uri="{FF2B5EF4-FFF2-40B4-BE49-F238E27FC236}">
                <a16:creationId xmlns:a16="http://schemas.microsoft.com/office/drawing/2014/main" id="{A62E1030-289D-4A42-8424-CA5A8C9E2153}"/>
              </a:ext>
            </a:extLst>
          </p:cNvPr>
          <p:cNvSpPr txBox="1">
            <a:spLocks/>
          </p:cNvSpPr>
          <p:nvPr/>
        </p:nvSpPr>
        <p:spPr>
          <a:xfrm>
            <a:off x="463096" y="7024740"/>
            <a:ext cx="4573911" cy="370177"/>
          </a:xfrm>
          <a:prstGeom prst="rect">
            <a:avLst/>
          </a:prstGeom>
        </p:spPr>
        <p:txBody>
          <a:bodyPr vert="horz" lIns="118312" tIns="59156" rIns="118312" bIns="59156" rtlCol="0" anchor="t" anchorCtr="0">
            <a:spAutoFit/>
          </a:bodyPr>
          <a:lstStyle>
            <a:lvl1pPr algn="l" defTabSz="7772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40" b="1" i="0" kern="1200">
                <a:solidFill>
                  <a:schemeClr val="tx2"/>
                </a:solidFill>
                <a:latin typeface="Arial Bold" pitchFamily="2" charset="77"/>
                <a:ea typeface="+mj-ea"/>
                <a:cs typeface="+mj-cs"/>
              </a:defRPr>
            </a:lvl1pPr>
          </a:lstStyle>
          <a:p>
            <a:r>
              <a:rPr lang="en-US" sz="1810" dirty="0">
                <a:solidFill>
                  <a:schemeClr val="accent2"/>
                </a:solidFill>
                <a:latin typeface="Segoe UI Semibold"/>
                <a:cs typeface="Segoe UI Semibold"/>
              </a:rPr>
              <a:t>What we offer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DD91616C-66BA-F84B-94FA-2C323742839C}"/>
              </a:ext>
            </a:extLst>
          </p:cNvPr>
          <p:cNvSpPr txBox="1">
            <a:spLocks/>
          </p:cNvSpPr>
          <p:nvPr/>
        </p:nvSpPr>
        <p:spPr>
          <a:xfrm>
            <a:off x="463095" y="7521785"/>
            <a:ext cx="5561614" cy="4050340"/>
          </a:xfrm>
          <a:prstGeom prst="rect">
            <a:avLst/>
          </a:prstGeom>
        </p:spPr>
        <p:txBody>
          <a:bodyPr wrap="square" lIns="91440" tIns="45720" rIns="91440" bIns="45720" anchor="t" anchorCtr="0">
            <a:spAutoFit/>
          </a:bodyPr>
          <a:lstStyle>
            <a:lvl1pPr marL="194310" indent="-194310" algn="l" defTabSz="777240" rtl="0" eaLnBrk="1" latinLnBrk="0" hangingPunct="1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0" b="0" i="0" kern="1200">
                <a:solidFill>
                  <a:schemeClr val="tx2"/>
                </a:solidFill>
                <a:latin typeface="Arial" pitchFamily="2" charset="77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00" dirty="0" err="1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ConfigCobra</a:t>
            </a:r>
            <a:r>
              <a:rPr lang="en-US" sz="1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is a SaaS solution that automates CIS-certified compliance assessments for Microsoft 365, replacing days of manual checking with fast, consistent, audit-ready results.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automates more than 90% of benchmark checks, detects configuration drift in near real time, and supports scheduled, continuous assessments to keep your compliance posture up to date.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Customers can generate CIS-certified PDF reports with evidence for audits and use clear remediation guidance to fix findings quickly.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 custom rule sets, assessments can be tailored to specific teams or priorities, while mapping to 24+ standards and frameworks (such as HIPAA, SOC 2, PCI DSS, ISO 27001, NIST, and CMMC) helps support multi-standard compliance programs.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ConfigCobra</a:t>
            </a:r>
            <a:r>
              <a:rPr lang="en-US" sz="140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is differentiated by its CIS-certified approach (not just “aligned”), continuous drift monitoring, and a self-service experience designed for ongoing compliance.</a:t>
            </a:r>
          </a:p>
        </p:txBody>
      </p: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7D056CFD-D89B-CB49-A1DE-34CA07C6BF6D}"/>
              </a:ext>
            </a:extLst>
          </p:cNvPr>
          <p:cNvSpPr txBox="1">
            <a:spLocks/>
          </p:cNvSpPr>
          <p:nvPr/>
        </p:nvSpPr>
        <p:spPr>
          <a:xfrm>
            <a:off x="6730488" y="8197286"/>
            <a:ext cx="2642362" cy="2066539"/>
          </a:xfrm>
          <a:prstGeom prst="rect">
            <a:avLst/>
          </a:prstGeom>
        </p:spPr>
        <p:txBody>
          <a:bodyPr vert="horz" wrap="square" lIns="118312" tIns="59156" rIns="118312" bIns="59156" rtlCol="0" anchor="ctr" anchorCtr="0">
            <a:spAutoFit/>
          </a:bodyPr>
          <a:lstStyle>
            <a:lvl1pPr marL="194310" indent="-194310" algn="l" defTabSz="777240" rtl="0" eaLnBrk="1" latinLnBrk="0" hangingPunct="1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0" b="0" i="0" kern="1200">
                <a:solidFill>
                  <a:schemeClr val="tx2"/>
                </a:solidFill>
                <a:latin typeface="Arial" pitchFamily="2" charset="77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656"/>
              </a:lnSpc>
              <a:buNone/>
            </a:pPr>
            <a:r>
              <a:rPr lang="en-US" sz="1360" dirty="0" err="1">
                <a:solidFill>
                  <a:schemeClr val="accent3"/>
                </a:solidFill>
                <a:latin typeface="Segoe UI"/>
                <a:cs typeface="Segoe UI"/>
              </a:rPr>
              <a:t>ConfigCobra</a:t>
            </a:r>
            <a:r>
              <a:rPr lang="en-US" sz="1360" dirty="0">
                <a:solidFill>
                  <a:schemeClr val="accent3"/>
                </a:solidFill>
                <a:latin typeface="Segoe UI"/>
                <a:cs typeface="Segoe UI"/>
              </a:rPr>
              <a:t> turned our Microsoft 365 CIS compliance from days of manual work into a repeatable, automated process. The CIS-certified reports and drift detection give us confidence we’re always audit-ready—and the remediation guidance is clear</a:t>
            </a:r>
          </a:p>
        </p:txBody>
      </p:sp>
      <p:sp>
        <p:nvSpPr>
          <p:cNvPr id="44" name="Text Placeholder 77">
            <a:extLst>
              <a:ext uri="{FF2B5EF4-FFF2-40B4-BE49-F238E27FC236}">
                <a16:creationId xmlns:a16="http://schemas.microsoft.com/office/drawing/2014/main" id="{2AAE87B7-A16E-684F-82FC-27BE241CBA1C}"/>
              </a:ext>
            </a:extLst>
          </p:cNvPr>
          <p:cNvSpPr txBox="1">
            <a:spLocks/>
          </p:cNvSpPr>
          <p:nvPr/>
        </p:nvSpPr>
        <p:spPr>
          <a:xfrm>
            <a:off x="6748095" y="7320028"/>
            <a:ext cx="2617365" cy="757271"/>
          </a:xfrm>
          <a:prstGeom prst="rect">
            <a:avLst/>
          </a:prstGeom>
        </p:spPr>
        <p:txBody>
          <a:bodyPr vert="horz" wrap="square" lIns="118312" tIns="59156" rIns="118312" bIns="59156" rtlCol="0" anchor="t">
            <a:spAutoFit/>
          </a:bodyPr>
          <a:lstStyle>
            <a:lvl1pPr marL="194310" indent="-194310" algn="l" defTabSz="777240" rtl="0" eaLnBrk="1" latinLnBrk="0" hangingPunct="1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0" b="0" i="0" kern="1200">
                <a:solidFill>
                  <a:schemeClr val="tx2"/>
                </a:solidFill>
                <a:latin typeface="Arial" pitchFamily="2" charset="77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10" b="1" dirty="0">
                <a:solidFill>
                  <a:schemeClr val="accent2"/>
                </a:solidFill>
                <a:latin typeface="Segoe UI Semibold"/>
                <a:cs typeface="Segoe UI Semibold"/>
              </a:rPr>
              <a:t>What our customers are saying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AEB8ED05-EA3F-AD48-ABCA-7EEAE6142717}"/>
              </a:ext>
            </a:extLst>
          </p:cNvPr>
          <p:cNvSpPr txBox="1">
            <a:spLocks/>
          </p:cNvSpPr>
          <p:nvPr/>
        </p:nvSpPr>
        <p:spPr>
          <a:xfrm>
            <a:off x="6754585" y="10573160"/>
            <a:ext cx="2618265" cy="488799"/>
          </a:xfrm>
          <a:prstGeom prst="rect">
            <a:avLst/>
          </a:prstGeom>
        </p:spPr>
        <p:txBody>
          <a:bodyPr vert="horz" wrap="square" lIns="118312" tIns="59156" rIns="118312" bIns="59156" rtlCol="0" anchor="t">
            <a:spAutoFit/>
          </a:bodyPr>
          <a:lstStyle>
            <a:lvl1pPr marL="194310" indent="-194310" algn="l" defTabSz="777240" rtl="0" eaLnBrk="1" latinLnBrk="0" hangingPunct="1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Char char="•"/>
              <a:defRPr sz="2380" b="0" i="0" kern="1200">
                <a:solidFill>
                  <a:schemeClr val="tx2"/>
                </a:solidFill>
                <a:latin typeface="Arial" pitchFamily="2" charset="77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204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70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chemeClr val="accent3"/>
                </a:solidFill>
                <a:latin typeface="Segoe UI"/>
                <a:cs typeface="Segoe UI"/>
              </a:rPr>
              <a:t>–  </a:t>
            </a:r>
            <a:r>
              <a:rPr lang="hu-HU" sz="1200" dirty="0" err="1">
                <a:solidFill>
                  <a:schemeClr val="accent3"/>
                </a:solidFill>
                <a:latin typeface="Segoe UI"/>
                <a:cs typeface="Segoe UI"/>
              </a:rPr>
              <a:t>Sofia</a:t>
            </a:r>
            <a:r>
              <a:rPr lang="en-US" sz="1200" dirty="0">
                <a:solidFill>
                  <a:schemeClr val="accent3"/>
                </a:solidFill>
                <a:latin typeface="Segoe UI"/>
                <a:cs typeface="Segoe UI"/>
              </a:rPr>
              <a:t>, CEO, Digital Technologies Holding</a:t>
            </a:r>
          </a:p>
        </p:txBody>
      </p:sp>
      <p:sp>
        <p:nvSpPr>
          <p:cNvPr id="46" name="Title 2">
            <a:extLst>
              <a:ext uri="{FF2B5EF4-FFF2-40B4-BE49-F238E27FC236}">
                <a16:creationId xmlns:a16="http://schemas.microsoft.com/office/drawing/2014/main" id="{0604A85E-BB22-9E4A-AD15-9D46C1AB1B3E}"/>
              </a:ext>
            </a:extLst>
          </p:cNvPr>
          <p:cNvSpPr txBox="1">
            <a:spLocks/>
          </p:cNvSpPr>
          <p:nvPr/>
        </p:nvSpPr>
        <p:spPr>
          <a:xfrm>
            <a:off x="463094" y="2240279"/>
            <a:ext cx="4751547" cy="2058460"/>
          </a:xfrm>
          <a:prstGeom prst="rect">
            <a:avLst/>
          </a:prstGeom>
        </p:spPr>
        <p:txBody>
          <a:bodyPr vert="horz" wrap="square" lIns="118312" tIns="59156" rIns="118312" bIns="59156" rtlCol="0" anchor="ctr" anchorCtr="0">
            <a:spAutoFit/>
          </a:bodyPr>
          <a:lstStyle>
            <a:lvl1pPr algn="l" defTabSz="7772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740" b="1" i="0" kern="1200">
                <a:solidFill>
                  <a:schemeClr val="tx2"/>
                </a:solidFill>
                <a:latin typeface="Arial Bold" pitchFamily="2" charset="77"/>
                <a:ea typeface="+mj-ea"/>
                <a:cs typeface="+mj-cs"/>
              </a:defRPr>
            </a:lvl1pPr>
          </a:lstStyle>
          <a:p>
            <a:r>
              <a:rPr lang="en-US" sz="3500" dirty="0">
                <a:solidFill>
                  <a:schemeClr val="accent2"/>
                </a:solidFill>
                <a:latin typeface="Segoe UI Semibold"/>
                <a:cs typeface="Segoe UI Semibold"/>
              </a:rPr>
              <a:t>Automate CIS compliance for Microsoft 365 in</a:t>
            </a:r>
            <a:br>
              <a:rPr lang="en-US" sz="3500" dirty="0">
                <a:solidFill>
                  <a:schemeClr val="accent2"/>
                </a:solidFill>
                <a:latin typeface="Segoe UI Semibold"/>
                <a:cs typeface="Segoe UI Semibold"/>
              </a:rPr>
            </a:br>
            <a:r>
              <a:rPr lang="en-US" sz="3500" dirty="0">
                <a:solidFill>
                  <a:schemeClr val="accent2"/>
                </a:solidFill>
                <a:latin typeface="Segoe UI Semibold"/>
                <a:cs typeface="Segoe UI Semibold"/>
              </a:rPr>
              <a:t>20 minutes, not days</a:t>
            </a:r>
          </a:p>
        </p:txBody>
      </p:sp>
      <p:pic>
        <p:nvPicPr>
          <p:cNvPr id="15" name="Picture 1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6DE75486-261E-42CE-BC45-182301AD794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7088" t="-1532" r="-1"/>
          <a:stretch/>
        </p:blipFill>
        <p:spPr>
          <a:xfrm>
            <a:off x="2335947" y="465762"/>
            <a:ext cx="3010305" cy="880353"/>
          </a:xfrm>
          <a:prstGeom prst="rect">
            <a:avLst/>
          </a:prstGeom>
          <a:ln>
            <a:noFill/>
          </a:ln>
        </p:spPr>
      </p:pic>
      <p:sp>
        <p:nvSpPr>
          <p:cNvPr id="7" name="Footer Placeholder 42">
            <a:extLst>
              <a:ext uri="{FF2B5EF4-FFF2-40B4-BE49-F238E27FC236}">
                <a16:creationId xmlns:a16="http://schemas.microsoft.com/office/drawing/2014/main" id="{77C3CD52-05F0-44EA-8E81-9C8A3EB5FBAC}"/>
              </a:ext>
            </a:extLst>
          </p:cNvPr>
          <p:cNvSpPr txBox="1">
            <a:spLocks/>
          </p:cNvSpPr>
          <p:nvPr/>
        </p:nvSpPr>
        <p:spPr>
          <a:xfrm>
            <a:off x="463094" y="11768581"/>
            <a:ext cx="9084970" cy="866082"/>
          </a:xfrm>
          <a:prstGeom prst="rect">
            <a:avLst/>
          </a:prstGeom>
        </p:spPr>
        <p:txBody>
          <a:bodyPr vert="horz" wrap="square" lIns="118312" tIns="59156" rIns="118312" bIns="59156" rtlCol="0" anchor="ctr">
            <a:spAutoFit/>
          </a:bodyPr>
          <a:lstStyle>
            <a:defPPr>
              <a:defRPr lang="en-US"/>
            </a:defPPr>
            <a:lvl1pPr marL="0" algn="ctr" defTabSz="1018824" rtl="0" eaLnBrk="1" latinLnBrk="0" hangingPunct="1">
              <a:defRPr sz="1000" b="0" i="0" kern="1200">
                <a:solidFill>
                  <a:schemeClr val="tx1">
                    <a:tint val="75000"/>
                  </a:schemeClr>
                </a:solidFill>
                <a:latin typeface="Arial" pitchFamily="2" charset="77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10"/>
              </a:lnSpc>
            </a:pPr>
            <a:r>
              <a:rPr lang="en-US" sz="1300" b="1" dirty="0" err="1">
                <a:solidFill>
                  <a:schemeClr val="accent2"/>
                </a:solidFill>
                <a:latin typeface="Segoe UI Semibold"/>
                <a:cs typeface="Segoe UI Semibold"/>
              </a:rPr>
              <a:t>ConfigCobra</a:t>
            </a:r>
            <a:br>
              <a:rPr lang="en-US" sz="1300" dirty="0">
                <a:solidFill>
                  <a:schemeClr val="accent3"/>
                </a:solidFill>
                <a:latin typeface="Segoe UI"/>
                <a:cs typeface="Segoe UI"/>
              </a:rPr>
            </a:br>
            <a:r>
              <a:rPr lang="en-US" sz="1300" dirty="0">
                <a:solidFill>
                  <a:schemeClr val="accent3"/>
                </a:solidFill>
                <a:latin typeface="Segoe UI"/>
                <a:cs typeface="Segoe UI"/>
              </a:rPr>
              <a:t>configcobra.com   |   info@configcobra.com</a:t>
            </a:r>
            <a:endParaRPr lang="en-US" sz="1300" dirty="0">
              <a:solidFill>
                <a:schemeClr val="accent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l">
              <a:lnSpc>
                <a:spcPts val="2010"/>
              </a:lnSpc>
            </a:pPr>
            <a:r>
              <a:rPr lang="en-US" sz="1300" u="sng" dirty="0">
                <a:solidFill>
                  <a:schemeClr val="accent3"/>
                </a:solidFill>
                <a:latin typeface="Segoe UI"/>
                <a:cs typeface="Segoe UI"/>
                <a:hlinkClick r:id="rId17"/>
              </a:rPr>
              <a:t>See our offer on the Microsoft Commercial Marketplace</a:t>
            </a:r>
            <a:endParaRPr lang="en-US" sz="1300" u="sng" dirty="0">
              <a:solidFill>
                <a:schemeClr val="accent3"/>
              </a:solidFill>
              <a:latin typeface="Segoe UI"/>
              <a:cs typeface="Segoe UI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B3E2CE6-A2C8-C271-E2D4-27F7326BB57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4761" y="159461"/>
            <a:ext cx="2181304" cy="127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618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161D76-CED7-4567-A16A-B1AE83308EFC}"/>
              </a:ext>
            </a:extLst>
          </p:cNvPr>
          <p:cNvSpPr/>
          <p:nvPr/>
        </p:nvSpPr>
        <p:spPr>
          <a:xfrm>
            <a:off x="4871450" y="0"/>
            <a:ext cx="5195871" cy="392315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697797-1A35-4FB1-8C72-755B67970AD9}"/>
              </a:ext>
            </a:extLst>
          </p:cNvPr>
          <p:cNvSpPr/>
          <p:nvPr/>
        </p:nvSpPr>
        <p:spPr>
          <a:xfrm>
            <a:off x="7348129" y="3978431"/>
            <a:ext cx="2709333" cy="1555051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white overlay">
            <a:extLst>
              <a:ext uri="{FF2B5EF4-FFF2-40B4-BE49-F238E27FC236}">
                <a16:creationId xmlns:a16="http://schemas.microsoft.com/office/drawing/2014/main" id="{2B1B3D5B-A7D4-4F0A-80EA-F8F6C656DDA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3715" r="32086"/>
          <a:stretch/>
        </p:blipFill>
        <p:spPr>
          <a:xfrm rot="10800000">
            <a:off x="4831762" y="-73964"/>
            <a:ext cx="4518046" cy="4052395"/>
          </a:xfrm>
          <a:prstGeom prst="rect">
            <a:avLst/>
          </a:prstGeom>
        </p:spPr>
      </p:pic>
      <p:sp>
        <p:nvSpPr>
          <p:cNvPr id="9" name="mask">
            <a:extLst>
              <a:ext uri="{FF2B5EF4-FFF2-40B4-BE49-F238E27FC236}">
                <a16:creationId xmlns:a16="http://schemas.microsoft.com/office/drawing/2014/main" id="{8BD93B3D-C4A3-4F30-895B-639C0F539CC2}"/>
              </a:ext>
            </a:extLst>
          </p:cNvPr>
          <p:cNvSpPr/>
          <p:nvPr/>
        </p:nvSpPr>
        <p:spPr>
          <a:xfrm>
            <a:off x="0" y="-15517"/>
            <a:ext cx="10059771" cy="13029840"/>
          </a:xfrm>
          <a:custGeom>
            <a:avLst/>
            <a:gdLst>
              <a:gd name="connsiteX0" fmla="*/ 7771898 w 7774910"/>
              <a:gd name="connsiteY0" fmla="*/ 3034038 h 10070391"/>
              <a:gd name="connsiteX1" fmla="*/ 5415575 w 7774910"/>
              <a:gd name="connsiteY1" fmla="*/ 3034038 h 10070391"/>
              <a:gd name="connsiteX2" fmla="*/ 3771221 w 7774910"/>
              <a:gd name="connsiteY2" fmla="*/ 1395607 h 10070391"/>
              <a:gd name="connsiteX3" fmla="*/ 3771221 w 7774910"/>
              <a:gd name="connsiteY3" fmla="*/ 0 h 10070391"/>
              <a:gd name="connsiteX4" fmla="*/ 0 w 7774910"/>
              <a:gd name="connsiteY4" fmla="*/ 0 h 10070391"/>
              <a:gd name="connsiteX5" fmla="*/ 0 w 7774910"/>
              <a:gd name="connsiteY5" fmla="*/ 10070392 h 10070391"/>
              <a:gd name="connsiteX6" fmla="*/ 7774911 w 7774910"/>
              <a:gd name="connsiteY6" fmla="*/ 10070392 h 10070391"/>
              <a:gd name="connsiteX7" fmla="*/ 7774911 w 7774910"/>
              <a:gd name="connsiteY7" fmla="*/ 0 h 10070391"/>
              <a:gd name="connsiteX8" fmla="*/ 7771898 w 7774910"/>
              <a:gd name="connsiteY8" fmla="*/ 3034038 h 10070391"/>
              <a:gd name="connsiteX9" fmla="*/ 7771898 w 7774910"/>
              <a:gd name="connsiteY9" fmla="*/ 4270277 h 10070391"/>
              <a:gd name="connsiteX10" fmla="*/ 7768383 w 7774910"/>
              <a:gd name="connsiteY10" fmla="*/ 4273293 h 10070391"/>
              <a:gd name="connsiteX11" fmla="*/ 6623109 w 7774910"/>
              <a:gd name="connsiteY11" fmla="*/ 4273293 h 10070391"/>
              <a:gd name="connsiteX12" fmla="*/ 5726371 w 7774910"/>
              <a:gd name="connsiteY12" fmla="*/ 3375399 h 10070391"/>
              <a:gd name="connsiteX13" fmla="*/ 6021602 w 7774910"/>
              <a:gd name="connsiteY13" fmla="*/ 3087328 h 10070391"/>
              <a:gd name="connsiteX14" fmla="*/ 7771898 w 7774910"/>
              <a:gd name="connsiteY14" fmla="*/ 3087328 h 10070391"/>
              <a:gd name="connsiteX15" fmla="*/ 7771898 w 7774910"/>
              <a:gd name="connsiteY15" fmla="*/ 4270277 h 1007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774910" h="10070391">
                <a:moveTo>
                  <a:pt x="7771898" y="3034038"/>
                </a:moveTo>
                <a:lnTo>
                  <a:pt x="5415575" y="3034038"/>
                </a:lnTo>
                <a:lnTo>
                  <a:pt x="3771221" y="1395607"/>
                </a:lnTo>
                <a:lnTo>
                  <a:pt x="3771221" y="0"/>
                </a:lnTo>
                <a:lnTo>
                  <a:pt x="0" y="0"/>
                </a:lnTo>
                <a:lnTo>
                  <a:pt x="0" y="10070392"/>
                </a:lnTo>
                <a:lnTo>
                  <a:pt x="7774911" y="10070392"/>
                </a:lnTo>
                <a:lnTo>
                  <a:pt x="7774911" y="0"/>
                </a:lnTo>
                <a:lnTo>
                  <a:pt x="7771898" y="3034038"/>
                </a:lnTo>
                <a:close/>
                <a:moveTo>
                  <a:pt x="7771898" y="4270277"/>
                </a:moveTo>
                <a:lnTo>
                  <a:pt x="7768383" y="4273293"/>
                </a:lnTo>
                <a:lnTo>
                  <a:pt x="6623109" y="4273293"/>
                </a:lnTo>
                <a:lnTo>
                  <a:pt x="5726371" y="3375399"/>
                </a:lnTo>
                <a:lnTo>
                  <a:pt x="6021602" y="3087328"/>
                </a:lnTo>
                <a:lnTo>
                  <a:pt x="7771898" y="3087328"/>
                </a:lnTo>
                <a:lnTo>
                  <a:pt x="7771898" y="4270277"/>
                </a:lnTo>
                <a:close/>
              </a:path>
            </a:pathLst>
          </a:custGeom>
          <a:solidFill>
            <a:schemeClr val="accent6"/>
          </a:solidFill>
          <a:ln w="5021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3359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2E2681BC-17CB-45B9-98E2-D8CD4E9D19AA}"/>
              </a:ext>
            </a:extLst>
          </p:cNvPr>
          <p:cNvSpPr txBox="1">
            <a:spLocks/>
          </p:cNvSpPr>
          <p:nvPr/>
        </p:nvSpPr>
        <p:spPr>
          <a:xfrm>
            <a:off x="463094" y="634979"/>
            <a:ext cx="3651156" cy="116955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spAutoFit/>
          </a:bodyPr>
          <a:lstStyle>
            <a:lvl1pPr algn="l" defTabSz="100584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8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500" dirty="0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Why</a:t>
            </a:r>
          </a:p>
          <a:p>
            <a:pPr>
              <a:lnSpc>
                <a:spcPct val="100000"/>
              </a:lnSpc>
            </a:pPr>
            <a:r>
              <a:rPr lang="en-US" sz="3500" dirty="0" err="1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ConfigCobra</a:t>
            </a:r>
            <a:r>
              <a:rPr lang="en-US" sz="3500" dirty="0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? 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67B6411-A0B7-417A-95CA-F218B06A95C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8900000" flipH="1">
            <a:off x="7146010" y="3724479"/>
            <a:ext cx="509008" cy="50900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03E4843-C10D-4107-B52B-AAED8199E8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 flipH="1">
            <a:off x="8600790" y="5608102"/>
            <a:ext cx="1456673" cy="145667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C7BBEDA-947B-46F5-B18D-394302D8BAFB}"/>
              </a:ext>
            </a:extLst>
          </p:cNvPr>
          <p:cNvCxnSpPr>
            <a:cxnSpLocks/>
          </p:cNvCxnSpPr>
          <p:nvPr/>
        </p:nvCxnSpPr>
        <p:spPr>
          <a:xfrm>
            <a:off x="5633325" y="2941529"/>
            <a:ext cx="4433996" cy="4536391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321308-5D25-4CA6-BF4C-577494B68CE2}"/>
              </a:ext>
            </a:extLst>
          </p:cNvPr>
          <p:cNvCxnSpPr>
            <a:cxnSpLocks/>
          </p:cNvCxnSpPr>
          <p:nvPr/>
        </p:nvCxnSpPr>
        <p:spPr>
          <a:xfrm>
            <a:off x="2847119" y="0"/>
            <a:ext cx="913979" cy="864585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Graphic 14">
            <a:extLst>
              <a:ext uri="{FF2B5EF4-FFF2-40B4-BE49-F238E27FC236}">
                <a16:creationId xmlns:a16="http://schemas.microsoft.com/office/drawing/2014/main" id="{9C9CC8AC-0E07-4307-AB23-A9BFE21FD85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 flipH="1">
            <a:off x="3038203" y="2"/>
            <a:ext cx="1783700" cy="17837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CCC8357B-784B-4718-ABE3-539CC7B3962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6851368" y="4497652"/>
            <a:ext cx="1217191" cy="1217191"/>
          </a:xfrm>
          <a:prstGeom prst="rect">
            <a:avLst/>
          </a:prstGeom>
        </p:spPr>
      </p:pic>
      <p:sp>
        <p:nvSpPr>
          <p:cNvPr id="4" name="Footer Placeholder 42">
            <a:extLst>
              <a:ext uri="{FF2B5EF4-FFF2-40B4-BE49-F238E27FC236}">
                <a16:creationId xmlns:a16="http://schemas.microsoft.com/office/drawing/2014/main" id="{DA965B41-5A32-48FB-A3E5-2174FFAA237B}"/>
              </a:ext>
            </a:extLst>
          </p:cNvPr>
          <p:cNvSpPr txBox="1">
            <a:spLocks/>
          </p:cNvSpPr>
          <p:nvPr/>
        </p:nvSpPr>
        <p:spPr>
          <a:xfrm>
            <a:off x="463094" y="11770344"/>
            <a:ext cx="9084970" cy="862556"/>
          </a:xfrm>
          <a:prstGeom prst="rect">
            <a:avLst/>
          </a:prstGeom>
        </p:spPr>
        <p:txBody>
          <a:bodyPr vert="horz" wrap="square" lIns="118312" tIns="59156" rIns="118312" bIns="59156" rtlCol="0" anchor="ctr">
            <a:spAutoFit/>
          </a:bodyPr>
          <a:lstStyle>
            <a:defPPr>
              <a:defRPr lang="en-US"/>
            </a:defPPr>
            <a:lvl1pPr marL="0" algn="ctr" defTabSz="1018824" rtl="0" eaLnBrk="1" latinLnBrk="0" hangingPunct="1">
              <a:defRPr sz="1000" b="0" i="0" kern="1200">
                <a:solidFill>
                  <a:schemeClr val="tx1">
                    <a:tint val="75000"/>
                  </a:schemeClr>
                </a:solidFill>
                <a:latin typeface="Arial" pitchFamily="2" charset="77"/>
                <a:ea typeface="+mn-ea"/>
                <a:cs typeface="+mn-cs"/>
              </a:defRPr>
            </a:lvl1pPr>
            <a:lvl2pPr marL="509412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18824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28237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37649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47061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56473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565886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075298" algn="l" defTabSz="1018824" rtl="0" eaLnBrk="1" latinLnBrk="0" hangingPunct="1">
              <a:defRPr sz="20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010"/>
              </a:lnSpc>
            </a:pPr>
            <a:r>
              <a:rPr lang="en-US" sz="1300" b="1" dirty="0" err="1">
                <a:solidFill>
                  <a:schemeClr val="accent2"/>
                </a:solidFill>
                <a:latin typeface="Segoe UI Semibold"/>
                <a:cs typeface="Segoe UI Semibold"/>
              </a:rPr>
              <a:t>ConfigCobra</a:t>
            </a:r>
            <a:br>
              <a:rPr lang="en-US" sz="1300" dirty="0">
                <a:solidFill>
                  <a:schemeClr val="accent3"/>
                </a:solidFill>
                <a:latin typeface="Segoe UI"/>
                <a:cs typeface="Segoe UI"/>
              </a:rPr>
            </a:br>
            <a:r>
              <a:rPr lang="en-US" sz="1300" dirty="0">
                <a:solidFill>
                  <a:schemeClr val="accent3"/>
                </a:solidFill>
                <a:latin typeface="Segoe UI"/>
                <a:cs typeface="Segoe UI"/>
                <a:hlinkClick r:id="rId12" action="ppaction://hlinkfile"/>
              </a:rPr>
              <a:t>configcobra.com   </a:t>
            </a:r>
            <a:r>
              <a:rPr lang="en-US" sz="1300" dirty="0">
                <a:solidFill>
                  <a:schemeClr val="accent3"/>
                </a:solidFill>
                <a:latin typeface="Segoe UI"/>
                <a:cs typeface="Segoe UI"/>
              </a:rPr>
              <a:t>|   </a:t>
            </a:r>
            <a:r>
              <a:rPr lang="en-US" sz="1300" dirty="0">
                <a:solidFill>
                  <a:schemeClr val="accent3"/>
                </a:solidFill>
                <a:latin typeface="Segoe UI"/>
                <a:cs typeface="Segoe UI"/>
                <a:hlinkClick r:id="rId13"/>
              </a:rPr>
              <a:t>info@configcobra.com</a:t>
            </a:r>
            <a:r>
              <a:rPr lang="en-US" sz="1300" dirty="0">
                <a:solidFill>
                  <a:schemeClr val="accent3"/>
                </a:solidFill>
                <a:latin typeface="Segoe UI"/>
                <a:cs typeface="Segoe UI"/>
              </a:rPr>
              <a:t> </a:t>
            </a:r>
          </a:p>
          <a:p>
            <a:pPr algn="l">
              <a:lnSpc>
                <a:spcPts val="2010"/>
              </a:lnSpc>
            </a:pPr>
            <a:r>
              <a:rPr lang="en-US" sz="1300" u="sng" dirty="0">
                <a:solidFill>
                  <a:schemeClr val="accent3"/>
                </a:solidFill>
                <a:latin typeface="Segoe UI"/>
                <a:cs typeface="Segoe UI"/>
                <a:hlinkClick r:id="rId14"/>
              </a:rPr>
              <a:t>See our offer on the Microsoft Commercial Marketplace</a:t>
            </a:r>
            <a:endParaRPr lang="en-US" sz="1300" u="sng" dirty="0">
              <a:solidFill>
                <a:schemeClr val="accent3"/>
              </a:solidFill>
              <a:latin typeface="Segoe UI"/>
              <a:cs typeface="Segoe UI"/>
            </a:endParaRP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AFEAB3C-9D0D-4A70-93EE-C81501BB9B3D}"/>
              </a:ext>
            </a:extLst>
          </p:cNvPr>
          <p:cNvSpPr txBox="1">
            <a:spLocks/>
          </p:cNvSpPr>
          <p:nvPr/>
        </p:nvSpPr>
        <p:spPr>
          <a:xfrm>
            <a:off x="457201" y="2187134"/>
            <a:ext cx="4809820" cy="8656356"/>
          </a:xfrm>
          <a:prstGeom prst="rect">
            <a:avLst/>
          </a:prstGeom>
          <a:noFill/>
        </p:spPr>
        <p:txBody>
          <a:bodyPr vert="horz" wrap="square" lIns="118312" tIns="59156" rIns="118312" bIns="59156" rtlCol="0" anchor="t" anchorCtr="0">
            <a:spAutoFit/>
          </a:bodyPr>
          <a:lstStyle>
            <a:lvl1pPr marL="0" indent="0" algn="l" defTabSz="777240" rtl="0" eaLnBrk="1" latinLnBrk="0" hangingPunct="1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11" b="1" dirty="0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Be future-ready</a:t>
            </a:r>
            <a:br>
              <a:rPr lang="en-US" sz="1811" dirty="0">
                <a:solidFill>
                  <a:srgbClr val="303D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Microsoft 365 changes constantly — </a:t>
            </a:r>
            <a:r>
              <a:rPr lang="en-US" sz="1360" dirty="0" err="1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ConfigCobra</a:t>
            </a:r>
            <a: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helps you stay ahead with CIS-certified assessments designed for continuous compliance, not point-in-time audits. </a:t>
            </a:r>
          </a:p>
          <a:p>
            <a: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By automating the vast majority of benchmark checks, highlighting gaps instantly, and providing clear remediation guidance, teams can keep pace with evolving security requirements without adding manual workload.</a:t>
            </a:r>
          </a:p>
          <a:p>
            <a:r>
              <a:rPr lang="en-US" sz="1811" b="1" dirty="0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Assessments (CIS for Microsoft 365)</a:t>
            </a:r>
            <a:br>
              <a:rPr lang="en-US" sz="1811" dirty="0">
                <a:solidFill>
                  <a:srgbClr val="303D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360" dirty="0" err="1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ConfigCobra</a:t>
            </a:r>
            <a: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runs CIS-certified assessments for Microsoft 365 to give you a clear, repeatable view of your compliance posture. </a:t>
            </a:r>
          </a:p>
          <a:p>
            <a: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can run assessments on-demand or automate them with scheduled, continuous scans to keep compliance up to date without manual effort. </a:t>
            </a:r>
          </a:p>
          <a:p>
            <a: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Findings are presented with pass/fail/partial outcomes, the reason behind each result, and clear remediation </a:t>
            </a:r>
            <a:b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guidance — so teams can move from discovery to fix quickly and confidently.</a:t>
            </a:r>
          </a:p>
          <a:p>
            <a:r>
              <a:rPr lang="en-US" sz="1811" b="1" dirty="0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Drift detection</a:t>
            </a:r>
            <a:br>
              <a:rPr lang="en-US" sz="1811" dirty="0">
                <a:solidFill>
                  <a:srgbClr val="303D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Compliance can break between checks when configurations change. </a:t>
            </a:r>
            <a:r>
              <a:rPr lang="en-US" sz="1360" dirty="0" err="1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ConfigCobra</a:t>
            </a:r>
            <a: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detects configuration drift so you can catch deviations early, understand what changed, and prioritize remediation before issues become audit blockers or security risks.</a:t>
            </a:r>
          </a:p>
          <a:p>
            <a:r>
              <a:rPr lang="en-US" sz="1811" b="1" dirty="0">
                <a:solidFill>
                  <a:schemeClr val="accent2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CIS-certified reporting</a:t>
            </a:r>
            <a:br>
              <a:rPr lang="en-US" sz="1811" dirty="0">
                <a:solidFill>
                  <a:srgbClr val="303D4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36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Generate audit-ready, CIS-certified PDF reports with evidence that auditors can review quickly and confidently, helping you document compliance status and improvements over time.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6A93D8D-47A6-D55B-7FB5-550E9C7330CF}"/>
              </a:ext>
            </a:extLst>
          </p:cNvPr>
          <p:cNvSpPr>
            <a:spLocks noGrp="1"/>
          </p:cNvSpPr>
          <p:nvPr/>
        </p:nvSpPr>
        <p:spPr>
          <a:xfrm>
            <a:off x="6116846" y="8214652"/>
            <a:ext cx="3431218" cy="3672547"/>
          </a:xfrm>
          <a:prstGeom prst="rect">
            <a:avLst/>
          </a:prstGeom>
        </p:spPr>
        <p:txBody>
          <a:bodyPr vert="horz" lIns="118312" tIns="59156" rIns="118312" bIns="59156" rtlCol="0" anchor="t">
            <a:noAutofit/>
          </a:bodyPr>
          <a:lstStyle>
            <a:lvl1pPr marL="0" indent="0" algn="l" defTabSz="777240" rtl="0" eaLnBrk="1" latinLnBrk="0" hangingPunct="1">
              <a:lnSpc>
                <a:spcPct val="120000"/>
              </a:lnSpc>
              <a:spcBef>
                <a:spcPts val="850"/>
              </a:spcBef>
              <a:buFont typeface="Arial" panose="020B0604020202020204" pitchFamily="34" charset="0"/>
              <a:buNone/>
              <a:defRPr sz="800" b="1" i="0" kern="1200">
                <a:solidFill>
                  <a:schemeClr val="bg1"/>
                </a:solidFill>
                <a:latin typeface="Arial" pitchFamily="2" charset="77"/>
                <a:ea typeface="+mn-ea"/>
                <a:cs typeface="+mn-cs"/>
              </a:defRPr>
            </a:lvl1pPr>
            <a:lvl2pPr marL="58293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2pPr>
            <a:lvl3pPr marL="97155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3pPr>
            <a:lvl4pPr marL="136017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4pPr>
            <a:lvl5pPr marL="1748790" indent="-194310" algn="l" defTabSz="777240" rtl="0" eaLnBrk="1" latinLnBrk="0" hangingPunct="1">
              <a:lnSpc>
                <a:spcPct val="12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200" b="0" i="0" kern="1200">
                <a:solidFill>
                  <a:schemeClr val="tx2"/>
                </a:solidFill>
                <a:latin typeface="Montserrat ExtraLight" pitchFamily="2" charset="77"/>
                <a:ea typeface="+mn-ea"/>
                <a:cs typeface="+mn-cs"/>
              </a:defRPr>
            </a:lvl5pPr>
            <a:lvl6pPr marL="213741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2603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1465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03270" indent="-194310" algn="l" defTabSz="777240" rtl="0" eaLnBrk="1" latinLnBrk="0" hangingPunct="1">
              <a:lnSpc>
                <a:spcPct val="90000"/>
              </a:lnSpc>
              <a:spcBef>
                <a:spcPts val="425"/>
              </a:spcBef>
              <a:buFont typeface="Arial" panose="020B0604020202020204" pitchFamily="34" charset="0"/>
              <a:buChar char="•"/>
              <a:defRPr sz="153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60" b="0" dirty="0" err="1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ConfigCobra</a:t>
            </a:r>
            <a:r>
              <a:rPr lang="en-US" sz="1360" b="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is a SaaS solution that automates CIS-certified compliance assessments for Microsoft 365, helping organizations replace time-consuming manual checks with fast, repeatable, audit-ready results. With on-demand and scheduled continuous assessments, drift detection, and clear remediation guidance, teams can maintain a strong security posture and stay compliant as configurations evolve.</a:t>
            </a:r>
            <a:br>
              <a:rPr lang="en-US" sz="1360" b="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br>
              <a:rPr lang="en-US" sz="1360" b="0" dirty="0">
                <a:solidFill>
                  <a:schemeClr val="accent3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1360" dirty="0">
                <a:solidFill>
                  <a:schemeClr val="accent3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  <a:t>Learn more at </a:t>
            </a:r>
            <a:br>
              <a:rPr lang="en-US" sz="1360" dirty="0">
                <a:solidFill>
                  <a:schemeClr val="accent3"/>
                </a:solidFill>
                <a:latin typeface="Segoe UI Semibold" panose="020B0502040204020203" pitchFamily="34" charset="0"/>
                <a:cs typeface="Segoe UI Semibold" panose="020B0502040204020203" pitchFamily="34" charset="0"/>
              </a:rPr>
            </a:br>
            <a:r>
              <a:rPr lang="en-US" sz="1360" dirty="0">
                <a:solidFill>
                  <a:schemeClr val="accent3"/>
                </a:solidFill>
                <a:latin typeface="Segoe UI Semibold" panose="020B0502040204020203" pitchFamily="34" charset="0"/>
                <a:cs typeface="Segoe UI Semibold" panose="020B0502040204020203" pitchFamily="34" charset="0"/>
                <a:hlinkClick r:id="rId12" action="ppaction://hlinkfile"/>
              </a:rPr>
              <a:t>configcobra.com</a:t>
            </a:r>
            <a:endParaRPr lang="en-US" sz="1360" dirty="0">
              <a:solidFill>
                <a:schemeClr val="accent3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  <a:p>
            <a:endParaRPr lang="en-US" sz="1360" dirty="0">
              <a:solidFill>
                <a:schemeClr val="accent3"/>
              </a:solidFill>
              <a:latin typeface="Segoe UI Semibold" panose="020B0502040204020203" pitchFamily="34" charset="0"/>
              <a:cs typeface="Segoe UI Semibold" panose="020B0502040204020203" pitchFamily="34" charset="0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448874-AD4C-2BB0-9230-F46D0CCFF27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992023" y="7393507"/>
            <a:ext cx="1602578" cy="93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531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44546A"/>
      </a:dk1>
      <a:lt1>
        <a:srgbClr val="FFFFFF"/>
      </a:lt1>
      <a:dk2>
        <a:srgbClr val="44546A"/>
      </a:dk2>
      <a:lt2>
        <a:srgbClr val="FFFFFF"/>
      </a:lt2>
      <a:accent1>
        <a:srgbClr val="0DB7C7"/>
      </a:accent1>
      <a:accent2>
        <a:srgbClr val="44546A"/>
      </a:accent2>
      <a:accent3>
        <a:srgbClr val="303D48"/>
      </a:accent3>
      <a:accent4>
        <a:srgbClr val="000000"/>
      </a:accent4>
      <a:accent5>
        <a:srgbClr val="505050"/>
      </a:accent5>
      <a:accent6>
        <a:srgbClr val="FFFFFF"/>
      </a:accent6>
      <a:hlink>
        <a:srgbClr val="303D48"/>
      </a:hlink>
      <a:folHlink>
        <a:srgbClr val="303D48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ategory xmlns="6004cae4-eee9-418b-9208-f6942056d00a" xsi:nil="true"/>
    <lcf76f155ced4ddcb4097134ff3c332f xmlns="6004cae4-eee9-418b-9208-f6942056d00a">
      <Terms xmlns="http://schemas.microsoft.com/office/infopath/2007/PartnerControls"/>
    </lcf76f155ced4ddcb4097134ff3c332f>
    <TaxCatchAll xmlns="230e9df3-be65-4c73-a93b-d1236ebd677e" xsi:nil="true"/>
    <_ip_UnifiedCompliancePolicyUIAction xmlns="http://schemas.microsoft.com/sharepoint/v3" xsi:nil="true"/>
    <_ip_UnifiedCompliancePolicyProperties xmlns="http://schemas.microsoft.com/sharepoint/v3" xsi:nil="true"/>
    <MediaLengthInSeconds xmlns="6004cae4-eee9-418b-9208-f6942056d00a" xsi:nil="true"/>
    <SharedWithUsers xmlns="c3186358-1d40-4d07-a51c-fc7f57eac3ac">
      <UserInfo>
        <DisplayName/>
        <AccountId xsi:nil="true"/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31CAB440C938458ECE75226290DBE8" ma:contentTypeVersion="21" ma:contentTypeDescription="Create a new document." ma:contentTypeScope="" ma:versionID="793865e92bbee499408a8ba96aed0413">
  <xsd:schema xmlns:xsd="http://www.w3.org/2001/XMLSchema" xmlns:xs="http://www.w3.org/2001/XMLSchema" xmlns:p="http://schemas.microsoft.com/office/2006/metadata/properties" xmlns:ns1="http://schemas.microsoft.com/sharepoint/v3" xmlns:ns2="6004cae4-eee9-418b-9208-f6942056d00a" xmlns:ns3="c3186358-1d40-4d07-a51c-fc7f57eac3ac" xmlns:ns4="230e9df3-be65-4c73-a93b-d1236ebd677e" targetNamespace="http://schemas.microsoft.com/office/2006/metadata/properties" ma:root="true" ma:fieldsID="72f253659a9477973f90084c70833318" ns1:_="" ns2:_="" ns3:_="" ns4:_="">
    <xsd:import namespace="http://schemas.microsoft.com/sharepoint/v3"/>
    <xsd:import namespace="6004cae4-eee9-418b-9208-f6942056d00a"/>
    <xsd:import namespace="c3186358-1d40-4d07-a51c-fc7f57eac3ac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Category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Location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04cae4-eee9-418b-9208-f6942056d0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Category" ma:index="18" nillable="true" ma:displayName="Category" ma:format="Dropdown" ma:internalName="Category">
      <xsd:simpleType>
        <xsd:restriction base="dms:Text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6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DocTags" ma:index="27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186358-1d40-4d07-a51c-fc7f57eac3ac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b476a64b-e7d3-4122-81ce-7036208fb507}" ma:internalName="TaxCatchAll" ma:showField="CatchAllData" ma:web="c3186358-1d40-4d07-a51c-fc7f57eac3a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FDC5F5-3665-49CA-850E-D0A094065CF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413775-34E8-4CFE-A0F9-ED66D3F951B6}">
  <ds:schemaRefs>
    <ds:schemaRef ds:uri="http://www.w3.org/XML/1998/namespace"/>
    <ds:schemaRef ds:uri="http://purl.org/dc/dcmitype/"/>
    <ds:schemaRef ds:uri="http://purl.org/dc/elements/1.1/"/>
    <ds:schemaRef ds:uri="6004cae4-eee9-418b-9208-f6942056d00a"/>
    <ds:schemaRef ds:uri="http://purl.org/dc/terms/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3186358-1d40-4d07-a51c-fc7f57eac3ac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B99E4119-E7C9-4A47-9649-F10F26CD9F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004cae4-eee9-418b-9208-f6942056d00a"/>
    <ds:schemaRef ds:uri="c3186358-1d40-4d07-a51c-fc7f57eac3ac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1357</TotalTime>
  <Words>597</Words>
  <Application>Microsoft Office PowerPoint</Application>
  <PresentationFormat>Custom</PresentationFormat>
  <Paragraphs>28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Montserrat ExtraLight</vt:lpstr>
      <vt:lpstr>Segoe UI</vt:lpstr>
      <vt:lpstr>Segoe UI Semibold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Jocelyn Ewert (Bookey Consulting)</dc:creator>
  <cp:lastModifiedBy>Énok Gábor</cp:lastModifiedBy>
  <cp:revision>13</cp:revision>
  <cp:lastPrinted>2019-06-14T16:26:52Z</cp:lastPrinted>
  <dcterms:created xsi:type="dcterms:W3CDTF">2013-03-25T02:44:56Z</dcterms:created>
  <dcterms:modified xsi:type="dcterms:W3CDTF">2026-01-19T16:33:08Z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0x010100B031CAB440C938458ECE75226290DBE8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v-jbeach@microsoft.com</vt:lpwstr>
  </property>
  <property fmtid="{D5CDD505-2E9C-101B-9397-08002B2CF9AE}" pid="6" name="MSIP_Label_f42aa342-8706-4288-bd11-ebb85995028c_SetDate">
    <vt:lpwstr>2019-01-08T21:12:17.2235781Z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  <property fmtid="{D5CDD505-2E9C-101B-9397-08002B2CF9AE}" pid="11" name="MediaServiceImageTags">
    <vt:lpwstr/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  <property fmtid="{D5CDD505-2E9C-101B-9397-08002B2CF9AE}" pid="19" name="xd_Signature">
    <vt:bool>false</vt:bool>
  </property>
</Properties>
</file>